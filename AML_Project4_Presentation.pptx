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72591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Non-Linearity, Tree-Based Classification &amp; SVM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7259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9C46A"/>
                </a:solidFill>
              </a:rPr>
              <a:t>Course Project 4  ·  CSCI-6767 Applied Machine Learning &amp; Data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20440"/>
            <a:ext cx="107259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CEE"/>
                </a:solidFill>
              </a:rPr>
              <a:t>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Gabil Gurbanov  ·  Hamida Hagverdiyeva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5156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Why non-linear? Why two datasets?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4476" y="100584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85916" y="105156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1676" y="105156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 1 — Seoul Bike Sharing Demand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1676" y="146304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Regression task — EDA &amp; non-linear patterns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3172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37744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1 — Non-Linear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8892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Polynomial · Step Functions · Splines · LOESS · GAMs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4476" y="233172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3774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1676" y="237744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Dataset 2 — KDD Cup 1999 Network Intrusion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1676" y="278892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Classification task — 494k connections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5760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70332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2 — Tree-Based Methods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11480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Bagging · Random Forests · Gradient Boosting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94476" y="365760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85916" y="3703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1676" y="370332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Task 3 — Support Vector Machines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51676" y="411480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Linear · RBF · Polynomial · Sigmoid kernels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5029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02920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Model Comparison &amp; ROC Curves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44068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Full metrics tables and performance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4476" y="4983480"/>
            <a:ext cx="5500116" cy="114300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85916" y="50292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E9C46A"/>
                </a:solidFill>
              </a:rP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51676" y="5029200"/>
            <a:ext cx="49971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Key Findings &amp; Conclusions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51676" y="5440680"/>
            <a:ext cx="4997196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CCDD"/>
                </a:solidFill>
              </a:rPr>
              <a:t>What worked, what didn't, why it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Problem Statement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What are we solving?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• Bike-sharing demand varies non-linearly with temperature, hour, and season
  • Network intrusion patterns cannot be separated by a linear boundary
  • Goal: apply and compare ML models across two real-world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9144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Two-Dataset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0" y="1371600"/>
            <a:ext cx="5760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• Regression dataset → Task 1 (non-linear models)
  • Classification dataset → Tasks 2 &amp; 3 (trees + SVM on same data)
  • Enables direct apples-to-apples comparison within each 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66160"/>
            <a:ext cx="11430000" cy="256032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Required methods  (from course syllabus)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6908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Task 1 (30%):  Polynomials  ·  Step Functions  ·  Splines  ·  Local Regression (LOESS)  ·  GAMs
Task 2 (30%):  Bagging  ·  Random Forests  ·  Boosting (Gradient Boosting)
Task 3 (20%):  SVM — Linear / RBF / Polynomial / Sigmoid kernels
Task 4 (20%):  Model comparison, error analysis, and conclusions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9C46A"/>
                </a:solidFill>
              </a:rPr>
              <a:t>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Regression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EE"/>
                </a:solidFill>
              </a:rPr>
              <a:t>Seoul Bike Sharing Demand — Non-Linear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1 — Seoul Bike Sharing Demand (Regression)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41148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UCI ML Repository · auto-downloaded via ucimlrepo(id=560)
  • 8,760 hourly records (Dec 2017 – Nov 2018, Seoul)
  • Target: Rented Bike Count (0–3,556 bikes/hour)
  • 14 features: temperature, humidity, hour, season, rainfall, …
  • 0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Why this dataset?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38912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  • Strong non-linear temperature effect (sweet spot 20–25°C)
  • Bimodal hourly pattern (8am rush + 6pm rush) — linear models fail
  • Seasonal structure ideal for GAMs and splines
  • Clean, no preprocessing overhead → focus on modelling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868680"/>
            <a:ext cx="7315200" cy="19160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Task 1 — Non-Linear Models: Why &amp; How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14400"/>
            <a:ext cx="3621024" cy="2423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987552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Polynomial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353312"/>
            <a:ext cx="3483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ŷ = β₀ + β₁x + β₂x² + … + βdxᵈ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920240"/>
            <a:ext cx="3483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Add degree-d terms. RidgeCV auto-selects λ after StandardScaler.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23944" y="914400"/>
            <a:ext cx="3621024" cy="2423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987552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Step Functions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1353312"/>
            <a:ext cx="3483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f(x) = Σ cⱼ · 1(x ∈ [tⱼ₋₁, tⱼ))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3672" y="1920240"/>
            <a:ext cx="3483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Bin continuous features; fit constant per bin. Piecewise constant.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82128" y="914400"/>
            <a:ext cx="3621024" cy="2423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91856" y="987552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B-Splines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91856" y="1353312"/>
            <a:ext cx="3483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f(x) = Σ βⱼ Bⱼ,ᵈ(x)  (n_knots=6, degree=3)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1856" y="1920240"/>
            <a:ext cx="3483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Piecewise polynomials joined smoothly at knots. sklearn SplineTransformer.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474720"/>
            <a:ext cx="3621024" cy="2423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547872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Nat. Cubic Splines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3913632"/>
            <a:ext cx="3483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cr(x, df=5)  — linear outside boundary knots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4480560"/>
            <a:ext cx="3483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Cubic splines with linearity constraint in tails. patsy cr().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23944" y="3474720"/>
            <a:ext cx="3621024" cy="2423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33672" y="3547872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LOESS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3672" y="3913632"/>
            <a:ext cx="3483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ŷ(x₀) = local WLS fit with tricube kernel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33672" y="4480560"/>
            <a:ext cx="3483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Non-parametric local smoother. Visualization tool — bandwidth = frac.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82128" y="3474720"/>
            <a:ext cx="3621024" cy="24231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91856" y="3547872"/>
            <a:ext cx="348386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C46A"/>
                </a:solidFill>
              </a:rPr>
              <a:t>GAM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91856" y="3913632"/>
            <a:ext cx="3483864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g(μ) = β₀ + f₁(x₁) + f₂(x₂) + … + fₚ(xₚ)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1856" y="4480560"/>
            <a:ext cx="3483864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Sum of smooth functions. pygam LinearGAM, λ tuned by grid search.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Polynomial Regression &amp; Step Functions —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7772400" cy="24244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9144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Key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1371600"/>
            <a:ext cx="3657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Best degree: 3  (RMSE=331, R²=0.7366)
  • StandardScaler essential before PolynomialFeatures
  • Degree 4 (3,059 features) requires α≈10,000 via RidgeCV
  • Step Functions: RMSE=401  R²=0.615
  • Step functions: piecewise constant → less smooth than splines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Splines &amp; LOESS Local Regression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400800" cy="280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49039"/>
            <a:ext cx="6400800" cy="193662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66560" y="9144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B-Splines vs NCS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13716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B-Splines: sklearn SplineTransformer(n_knots=6, d=3)
  • B-Splines RMSE=352  R²=0.703
  • NCS: patsy cr(x, df=5), linear outside boundary knots
  • NCS RMSE=385  R²=0.644
  • Both outperform step functions — smooth, continuous 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37490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LOESS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4206239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Local non-parametric smoother — no global equation
  • Bandwidth frac controls flexibility vs smoothness
  • Used as diagnostic/visualization tool (not in RMSE table)
  • Reveals non-monotonic temperature–demand relationship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Generalized Additive Models (GAMs) — Best Regression Model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229600" cy="163847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595360" y="9144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GAM Results &amp;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0" y="1371600"/>
            <a:ext cx="3291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RMSE = 317.7  |  R² = 0.7578  ← best regression model
  • Formula: ŷ = β₀ + f₁(Hour) + f₂(Temp) + f₃(Humidity) + …
  • λ (smoothness penalty) tuned via grid search automatically
  • Hour: clear bimodal peaks at 8am &amp; 6pm — commuting pattern
  • Temperature: non-linear bell curve peaking ~20°C
  • Humidity: negative effect above 60%
  • Partial dependence = marginal effect with all others at avg
  • Key advantage: interpretable AND high-performance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Regression Model Comparison — Full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686800" cy="3064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52560" y="9144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Rankings  (by R²)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52560" y="1371600"/>
            <a:ext cx="2743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🥇 GAM (LinearGAM)  R²=0.7578
  • 🥈 Polynomial deg=3  R²=0.7366
  • 🥉 B-Splines  R²=0.7035
  • 4. Polynomial deg=2  R²=0.6759
  • 5. Natural Cubic Splines  R²=0.6444
  • 6. Baseline (Linear)  R²=0.5337
  • All non-linear methods beat baseline — validates non-linearity
  • GAM interpretable AND best-performing — recommended choice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9C46A"/>
                </a:solidFill>
              </a:rPr>
              <a:t>Section 2 &amp;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Classification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EE"/>
                </a:solidFill>
              </a:rPr>
              <a:t>KDD Cup 1999 — Tree Methods &amp; SVM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Dataset 2 — KDD Cup 1999 Network Intrusion (Classification)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43891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sklearn built-in · fetch_kddcup99(percent10=True) · no download needed
  • 494,021 network connection records (10% sample of full dataset)
  • Binary target: normal (0) vs attack (1)
  • 41 features: src_bytes, dst_bytes, protocol, service, flags, …
  • Attack rate: ~80% (imbalanced, dominated by smurf &amp; neptune DoS)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Attack types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572000"/>
            <a:ext cx="4389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DoS — Denial of Service (smurf, neptune, back…)
  • Probe — port scanning (satan, ipsweep, nmap…)
  • R2L — Remote to Local (guess_passwd, ftp_write…)
  • U2R — User to Root (buffer_overflow, rootkit…)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868680"/>
            <a:ext cx="6949440" cy="239212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Task 2 — Tree-Based Methods: How They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868680"/>
            <a:ext cx="3681984" cy="5669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960120"/>
            <a:ext cx="3544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C46A"/>
                </a:solidFill>
              </a:rPr>
              <a:t>Bagging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371600"/>
            <a:ext cx="3544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Bootstrap Aggregating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" y="1737360"/>
            <a:ext cx="3544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Formula: f̂(x) = (1/B) Σ fᵦ(x)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2331720"/>
            <a:ext cx="35448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Train B trees on bootstrap samples (with replacement)
• Aggregate by majority vote (classification)
• Reduces variance; bias unchanged
• OOB (~37% left out per tree) = free validation
• Settings: B=100, base=DecisionTree</a:t>
            </a:r>
          </a:p>
        </p:txBody>
      </p:sp>
      <p:sp>
        <p:nvSpPr>
          <p:cNvPr id="9" name="Rectangle 8"/>
          <p:cNvSpPr/>
          <p:nvPr/>
        </p:nvSpPr>
        <p:spPr>
          <a:xfrm>
            <a:off x="4184904" y="868680"/>
            <a:ext cx="3681984" cy="5669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4632" y="960120"/>
            <a:ext cx="3544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C46A"/>
                </a:solidFill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4632" y="1371600"/>
            <a:ext cx="3544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Bagging + Random Feature Subsets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4632" y="1737360"/>
            <a:ext cx="3544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At each split: sample m = √p features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4632" y="2331720"/>
            <a:ext cx="35448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Decorrelates trees → better variance reduction than Bagging
• Key: dominant features don't control every split
• Feature importance via Gini impurity decrease
• OOB scoring; n_jobs=-1 for parallelism
• Settings: 100 trees, oob_score=True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4048" y="868680"/>
            <a:ext cx="3681984" cy="566928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3776" y="960120"/>
            <a:ext cx="354482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C46A"/>
                </a:solidFill>
              </a:rPr>
              <a:t>Gradient 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3776" y="1371600"/>
            <a:ext cx="35448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ACCEE"/>
                </a:solidFill>
              </a:rPr>
              <a:t>Sequential Error Correction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13776" y="1737360"/>
            <a:ext cx="35448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F_m(x) = F_{m-1}(x) + ν · h_m(x)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3776" y="2331720"/>
            <a:ext cx="3544824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• Each tree fits the negative gradient (pseudo-residuals)
• Learning rate ν=0.1 controls shrinkage
• Stochastic GB: subsample=0.8 per round
• Settings: 200 rounds, max_depth=4, lr=0.1
• Monitor train vs test deviance for early stopping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Bagging &amp; Random Forest —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303697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14400"/>
            <a:ext cx="4663440" cy="2567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297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Bagging: Acc=0.9998  F1=0.9999  AUC=1.0000  OOB=0.9998
  • Random Forest: Acc=0.9998  F1=0.9999  AUC=1.0000  OOB=0.9998
  • Both achieve near-perfect scores — KDD99 is highly separable
  • RF feature importance: src_bytes, dst_bytes dominate
  • Random feature sampling in RF slightly outperforms Bagging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Gradient Boosting — Results &amp; Learning Curve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858000" cy="30085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914400"/>
            <a:ext cx="4389120" cy="44288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2976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Observations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4754880"/>
            <a:ext cx="6858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Accuracy=0.9997  F1=0.9998
  • AUC-ROC = 1.0000
  • Train &amp; test deviance converge → no overfitting
  • 200 rounds with lr=0.1 provides stable generalisation
  • Slightly lower than RF — sequential training adds noise
  • Subsample=0.8 gives stochastic gradient boosting benefit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Task 3 — Support Vector Machines: Kernel Functions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6868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SVM finds the maximum-margin hyperplane. The kernel trick maps data to higher-dimensional space implicitly: f(x) = sign(Σ αᵢ yᵢ K(xᵢ, x) + b)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17320"/>
            <a:ext cx="2754630" cy="51663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2635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C46A"/>
                </a:solidFill>
              </a:rPr>
              <a:t>Linear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3852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K(x,z) = xᵀz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87168"/>
            <a:ext cx="26357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</a:rPr>
              <a:t>Finds linear separator in original space.
Best for linearly separable data.
C=1.0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383280"/>
            <a:ext cx="263575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Fast training · interpretable weights · may underfit non-linear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30118" y="1417320"/>
            <a:ext cx="2754630" cy="5166360"/>
          </a:xfrm>
          <a:prstGeom prst="rect">
            <a:avLst/>
          </a:prstGeom>
          <a:solidFill>
            <a:srgbClr val="0A5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21558" y="1508760"/>
            <a:ext cx="2635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C46A"/>
                </a:solidFill>
              </a:rPr>
              <a:t>RBF (Gaussian)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21558" y="193852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K(x,z) = exp(−γ‖x−z‖²)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1558" y="2487168"/>
            <a:ext cx="26357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</a:rPr>
              <a:t>Maps to infinite-dimensional space.
Most general-purpose kernel.
C=10, γ=scale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21558" y="3383280"/>
            <a:ext cx="263575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Best performer here · handles non-linear boundaries · sensitive to C and 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4476" y="1417320"/>
            <a:ext cx="2754630" cy="5166360"/>
          </a:xfrm>
          <a:prstGeom prst="rect">
            <a:avLst/>
          </a:prstGeom>
          <a:solidFill>
            <a:srgbClr val="5C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85916" y="1508760"/>
            <a:ext cx="2635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C46A"/>
                </a:solidFill>
              </a:rPr>
              <a:t>Polynomial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5916" y="193852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K(x,z) = (γxᵀz + 1)ᵈ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5916" y="2487168"/>
            <a:ext cx="26357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</a:rPr>
              <a:t>Captures polynomial interactions.
Degree d=3 used.
C=1.0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5916" y="3383280"/>
            <a:ext cx="263575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Good for data with polynomial structure · more params than RBF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58834" y="1417320"/>
            <a:ext cx="2754630" cy="5166360"/>
          </a:xfrm>
          <a:prstGeom prst="rect">
            <a:avLst/>
          </a:prstGeom>
          <a:solidFill>
            <a:srgbClr val="3D0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0274" y="1508760"/>
            <a:ext cx="263575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9C46A"/>
                </a:solidFill>
              </a:rPr>
              <a:t>Sigmoid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0274" y="1938528"/>
            <a:ext cx="263575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FFFAA"/>
                </a:solidFill>
              </a:rPr>
              <a:t>K(x,z) = tanh(γxᵀz + c)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0274" y="2487168"/>
            <a:ext cx="263575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EFF"/>
                </a:solidFill>
              </a:rPr>
              <a:t>Neural network analogy.
Equivalent to 2-layer net.
C=1.0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0274" y="3383280"/>
            <a:ext cx="2635758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Often underperforms · sensitive to scaling · not PD in general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SVM Kernel Comparison — Results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8686800" cy="40171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961120" y="9144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Kernel Performance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371600"/>
            <a:ext cx="2926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  • Linear        F1=0.9982  AUC=0.9977
  • RBF           F1=0.9989  AUC=0.9999
  • Polynomial    F1=0.9988  AUC=0.9978
  • Sigmoid       F1=0.9686  AUC=0.8861
  • ⚠ All SVMs trained on 15k-sample subset (O(n²) constraint)
  • RBF best — non-linear boundary in this feature space
  • Sigmoid worst — unsuited for tabular data distributions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Classification — Full Model Comparison &amp; ROC Curves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6583680" cy="4369371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914400"/>
            <a:ext cx="5029200" cy="1774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4754880"/>
            <a:ext cx="1188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C46A"/>
                </a:solidFill>
              </a:rPr>
              <a:t>All classification models ranked by F1: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5120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Bagging: Acc=0.9998  F1=0.9999  AUC=1.0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512064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Random Forest: Acc=0.9998  F1=0.9999  AUC=1.0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681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Gradient Boosting: Acc=0.9997  F1=0.9998  AUC=1.0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5468112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SVM — RBF: Acc=0.9983  F1=0.9989  AUC=0.9999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815583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SVM — Polynomial: Acc=0.9980  F1=0.9988  AUC=0.9978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5815583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SVM — Linear: Acc=0.9971  F1=0.9982  AUC=0.9977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163056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SVM — Sigmoid: Acc=0.9496  F1=0.9686  AUC=0.8861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80360"/>
            <a:ext cx="12188952" cy="73152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E9C46A"/>
                </a:solidFill>
              </a:rP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AACCEE"/>
                </a:solidFill>
              </a:rPr>
              <a:t>Findings, Takeaways &amp; Team Contributions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Regression — Seoul Bike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Best model: GAM (LinearGAM)  (R²=0.7578, RMSE=318)
  • All 5 non-linear methods beat linear baseline (R²=0.53) — non-linearity confirmed
  • Polynomial deg=3 competitive but requires StandardScaler + RidgeCV to be stable
  • Splines give smooth fits; step functions produce discontinuous jumps
  • LOESS reveals non-monotonic temperature effect — best diagnostic tool
  • GAM: interpretable partial dependences + best RMSE — recommended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0" y="91440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Classification — KDD Cup 1999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37160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  • Best model: Bagging  (F1=0.9999, AUC=1.0)
  • KDD99 is highly separable — all models achieve &gt;94% accuracy
  • RF and Bagging effectively tied — RF marginal advantage via decorrelation
  • Gradient Boosting competitive — sequential learning captures residuals
  • SVM RBF is best kernel — data boundary is non-linear in feature space
  • SVM Sigmoid fails (AUC=0.886) — not suited for this tabular structure
  • Tree ensembles dominate at scale; SVMs limited to ~50k training samples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21889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Conclusions &amp;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1457432" cy="9875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60704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C46A"/>
                </a:solidFill>
              </a:rPr>
              <a:t>→  Non-linearity is critical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08176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Every non-linear method outperforms linear regression on Seoul Bike data. Complex real-world patterns (hourly rhythms, temperature sweet-spots) cannot be captured by linear models regardless of regularisation.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03120"/>
            <a:ext cx="11457432" cy="9875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57984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C46A"/>
                </a:solidFill>
              </a:rPr>
              <a:t>→  GAMs: best of both worlds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05456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LinearGAM achieves the lowest RMSE while remaining fully interpretable via partial dependence plots — the right tool when explainability matters alongside performance.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3200400"/>
            <a:ext cx="11457432" cy="9875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255264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C46A"/>
                </a:solidFill>
              </a:rPr>
              <a:t>→  Ensemble methods dominate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602736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Random Forests and Gradient Boosting set the performance ceiling at near-perfect F1. Parallelisable, scalable, and feature-importance aware — the recommended production choice.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297680"/>
            <a:ext cx="11457432" cy="9875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352544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C46A"/>
                </a:solidFill>
              </a:rPr>
              <a:t>→  SVM kernel selection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00016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RBF kernel captures non-linear boundaries effectively (AUC≈1.00), while Sigmoid kernel fails on tabular data (AUC≈0.89). Kernel choice is a modelling decision — not a hyperparameter to grid-search blindly.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394960"/>
            <a:ext cx="11457432" cy="987552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49824"/>
            <a:ext cx="111831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C46A"/>
                </a:solidFill>
              </a:rPr>
              <a:t>→  Two-dataset strategy pays off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797296"/>
            <a:ext cx="111831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Separating regression and classification tasks enables fair, within-task comparisons and avoids forcing models into mismatched settings.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F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73152"/>
            <a:ext cx="117317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Team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Gabil Gurbanov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• Task 1 — Non-Linear Models (all 5 methods)
  • Polynomial Regression: scaling fix + RidgeCV degree selection
  • Step Functions: binning strategy and one-hot encoding pipeline
  • B-Splines (SplineTransformer) + Natural Cubic Splines (patsy cr())
  • LOESS: bandwidth analysis and visualisation
  • GAMs: pygam LinearGAM, grid search, partial dependence plots
  • Regression EDA, preprocessing, model comparison &amp; visualisations
  • Streamlit app — regression sections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914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C46A"/>
                </a:solidFill>
              </a:rPr>
              <a:t>Hamida Hagverdiyeva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5669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• Task 2 — Tree-Based Methods (all 3 algorithms)
  • Bagging: OOB scoring and bootstrap analysis
  • Random Forest: feature importance, OOB evaluation
  • Gradient Boosting: staged training, deviance tracking
  • Task 3 — SVM (all 4 kernels): Linear, RBF, Polynomial, Sigmoid
  • SVM kernel comparison, ROC curve analysis
  • Classification dataset EDA, preprocessing, model comparison
  • Streamlit app — classification sections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88952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9C46A"/>
                </a:solidFill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ACCEE"/>
                </a:solidFill>
              </a:rPr>
              <a:t>Gabil Gurbanov  ·  Hamida Hagverdiyeva
CSCI-6767  ·  Spring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